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EF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0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1440000"/>
            <a:ext cx="8820000" cy="48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3200" b="1">
                <a:solidFill>
                  <a:srgbClr val="19222D"/>
                </a:solidFill>
                <a:latin typeface="Microsoft YaHei"/>
              </a:rPr>
              <a:t>基于KAN超图的药物协同预测研究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998000"/>
            <a:ext cx="4860000" cy="21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10857A"/>
                </a:solidFill>
                <a:latin typeface="Microsoft YaHei"/>
              </a:rPr>
              <a:t>本科毕业论文答辩 · 5分钟版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5508000"/>
            <a:ext cx="648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5C6978"/>
                </a:solidFill>
                <a:latin typeface="Microsoft YaHei"/>
              </a:rPr>
              <a:t>答辩人：XXX    指导教师：XXX    专业：XXX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6000" y="1512000"/>
            <a:ext cx="1584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6000" y="1512000"/>
            <a:ext cx="43200" cy="792000"/>
          </a:xfrm>
          <a:prstGeom prst="rect">
            <a:avLst/>
          </a:prstGeom>
          <a:solidFill>
            <a:srgbClr val="10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0000" y="1637999"/>
            <a:ext cx="1296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2400" b="1">
                <a:solidFill>
                  <a:srgbClr val="10857A"/>
                </a:solidFill>
                <a:latin typeface="Microsoft YaHei"/>
              </a:rPr>
              <a:t>16万+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000" y="1962000"/>
            <a:ext cx="1404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200" b="0">
                <a:solidFill>
                  <a:srgbClr val="5C6978"/>
                </a:solidFill>
                <a:latin typeface="Microsoft YaHei"/>
              </a:rPr>
              <a:t>药物组合样本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0000" y="1512000"/>
            <a:ext cx="1584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20000" y="1512000"/>
            <a:ext cx="43200" cy="792000"/>
          </a:xfrm>
          <a:prstGeom prst="rect">
            <a:avLst/>
          </a:prstGeom>
          <a:solidFill>
            <a:srgbClr val="D77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64000" y="1637999"/>
            <a:ext cx="1296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2400" b="1">
                <a:solidFill>
                  <a:srgbClr val="D77521"/>
                </a:solidFill>
                <a:latin typeface="Microsoft YaHei"/>
              </a:rPr>
              <a:t>0泄漏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000" y="1962000"/>
            <a:ext cx="1404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200" b="0">
                <a:solidFill>
                  <a:srgbClr val="5C6978"/>
                </a:solidFill>
                <a:latin typeface="Microsoft YaHei"/>
              </a:rPr>
              <a:t>cold-drug药物重叠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6000" y="2592000"/>
            <a:ext cx="3348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6000" y="2592000"/>
            <a:ext cx="43200" cy="792000"/>
          </a:xfrm>
          <a:prstGeom prst="rect">
            <a:avLst/>
          </a:prstGeom>
          <a:solidFill>
            <a:srgbClr val="18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0000" y="2717999"/>
            <a:ext cx="3060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2400" b="1">
                <a:solidFill>
                  <a:srgbClr val="183E62"/>
                </a:solidFill>
                <a:latin typeface="Microsoft YaHei"/>
              </a:rPr>
              <a:t>HgKAN-Agg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000" y="3042000"/>
            <a:ext cx="3168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200" b="0">
                <a:solidFill>
                  <a:srgbClr val="5C6978"/>
                </a:solidFill>
                <a:latin typeface="Microsoft YaHei"/>
              </a:rPr>
              <a:t>主结果模型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96000" y="6408000"/>
            <a:ext cx="396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1000" b="0">
                <a:solidFill>
                  <a:srgbClr val="5C6978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000" y="251999"/>
            <a:ext cx="9360000" cy="37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Microsoft YaHei"/>
              </a:rPr>
              <a:t>研究问题：药物协同是三元交互预测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6000" y="630000"/>
            <a:ext cx="900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300" b="0">
                <a:solidFill>
                  <a:srgbClr val="5C6978"/>
                </a:solidFill>
                <a:latin typeface="Microsoft YaHei"/>
              </a:rPr>
              <a:t>目标不是替代湿实验，而是为候选组合排序与优先级筛选提供模型依据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000" y="882000"/>
            <a:ext cx="11196000" cy="10800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" y="1080000"/>
            <a:ext cx="3420000" cy="42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000" y="1080000"/>
            <a:ext cx="43200" cy="4248000"/>
          </a:xfrm>
          <a:prstGeom prst="rect">
            <a:avLst/>
          </a:prstGeom>
          <a:solidFill>
            <a:srgbClr val="B8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180800"/>
            <a:ext cx="3132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500" b="1">
                <a:solidFill>
                  <a:srgbClr val="B84948"/>
                </a:solidFill>
                <a:latin typeface="Microsoft YaHei"/>
              </a:rPr>
              <a:t>任务挑战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000" y="1494000"/>
            <a:ext cx="3060000" cy="3060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组合空间随药物数量呈二次增长</a:t>
            </a:r>
          </a:p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协同正例稀少，本文正例比例约14.8%</a:t>
            </a:r>
          </a:p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random split容易利用已见药物先验</a:t>
            </a:r>
          </a:p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真实筛选更关注未见药物的cold-drug泛化</a:t>
            </a:r>
          </a:p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药物发现场景需要可解释线索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0" y="1080000"/>
            <a:ext cx="3420000" cy="42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0" y="1080000"/>
            <a:ext cx="43200" cy="4248000"/>
          </a:xfrm>
          <a:prstGeom prst="rect">
            <a:avLst/>
          </a:prstGeom>
          <a:solidFill>
            <a:srgbClr val="10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2000" y="1180800"/>
            <a:ext cx="3132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500" b="1">
                <a:solidFill>
                  <a:srgbClr val="10857A"/>
                </a:solidFill>
                <a:latin typeface="Microsoft YaHei"/>
              </a:rPr>
              <a:t>核心问题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0" y="1494000"/>
            <a:ext cx="3024000" cy="3060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8000"/>
              </a:lnSpc>
            </a:pPr>
            <a:r>
              <a:rPr sz="1700">
                <a:solidFill>
                  <a:srgbClr val="19222D"/>
                </a:solidFill>
                <a:latin typeface="Microsoft YaHei"/>
              </a:rPr>
              <a:t>• KAN能否提升药物协同预测？</a:t>
            </a:r>
          </a:p>
          <a:p>
            <a:pPr>
              <a:lnSpc>
                <a:spcPct val="108000"/>
              </a:lnSpc>
            </a:pPr>
            <a:r>
              <a:rPr sz="1700">
                <a:solidFill>
                  <a:srgbClr val="19222D"/>
                </a:solidFill>
                <a:latin typeface="Microsoft YaHei"/>
              </a:rPr>
              <a:t>• KAN应放在最终预测头、药物图编码器，还是drug-drug-cell交互层？</a:t>
            </a:r>
          </a:p>
          <a:p>
            <a:pPr>
              <a:lnSpc>
                <a:spcPct val="108000"/>
              </a:lnSpc>
            </a:pPr>
            <a:r>
              <a:rPr sz="1700">
                <a:solidFill>
                  <a:srgbClr val="19222D"/>
                </a:solidFill>
                <a:latin typeface="Microsoft YaHei"/>
              </a:rPr>
              <a:t>• 模型是否真正依赖药物对结构，而非只学习数据先验？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999" y="1080000"/>
            <a:ext cx="3528000" cy="42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3999" y="1080000"/>
            <a:ext cx="43200" cy="4248000"/>
          </a:xfrm>
          <a:prstGeom prst="rect">
            <a:avLst/>
          </a:prstGeom>
          <a:solidFill>
            <a:srgbClr val="18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5999" y="1180800"/>
            <a:ext cx="324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500" b="1">
                <a:solidFill>
                  <a:srgbClr val="183E62"/>
                </a:solidFill>
                <a:latin typeface="Microsoft YaHei"/>
              </a:rPr>
              <a:t>本文答案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2000" y="1530000"/>
            <a:ext cx="3096000" cy="28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800" b="1">
                <a:solidFill>
                  <a:srgbClr val="B84948"/>
                </a:solidFill>
                <a:latin typeface="Microsoft YaHei"/>
              </a:rPr>
              <a:t>KAN不是MLP的通用替代品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2000" y="2196000"/>
            <a:ext cx="3096000" cy="57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2100" b="1">
                <a:solidFill>
                  <a:srgbClr val="183E62"/>
                </a:solidFill>
                <a:latin typeface="Microsoft YaHei"/>
              </a:rPr>
              <a:t>更适合作为结构化消息传递中的可学习非线性函数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2000" y="3294000"/>
            <a:ext cx="3096000" cy="251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600" b="1">
                <a:solidFill>
                  <a:srgbClr val="10857A"/>
                </a:solidFill>
                <a:latin typeface="Microsoft YaHei"/>
              </a:rPr>
              <a:t>结构先行，KAN局部函数化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96000" y="6408000"/>
            <a:ext cx="396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1000" b="0">
                <a:solidFill>
                  <a:srgbClr val="5C6978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000" y="251999"/>
            <a:ext cx="9360000" cy="37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Microsoft YaHei"/>
              </a:rPr>
              <a:t>数据与评价：同时看插值与新药泛化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6000" y="630000"/>
            <a:ext cx="900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300" b="0">
                <a:solidFill>
                  <a:srgbClr val="5C6978"/>
                </a:solidFill>
                <a:latin typeface="Microsoft YaHei"/>
              </a:rPr>
              <a:t>输入为药物A分子图、药物B分子图和细胞系表达；输出包括协同分类与Loewe回归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000" y="882000"/>
            <a:ext cx="11196000" cy="10800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" y="1170000"/>
            <a:ext cx="1908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000" y="1170000"/>
            <a:ext cx="43200" cy="792000"/>
          </a:xfrm>
          <a:prstGeom prst="rect">
            <a:avLst/>
          </a:prstGeom>
          <a:solidFill>
            <a:srgbClr val="10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00" y="1295999"/>
            <a:ext cx="1620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2400" b="1">
                <a:solidFill>
                  <a:srgbClr val="10857A"/>
                </a:solidFill>
                <a:latin typeface="Microsoft YaHei"/>
              </a:rPr>
              <a:t>160,228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620000"/>
            <a:ext cx="1728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200" b="0">
                <a:solidFill>
                  <a:srgbClr val="5C6978"/>
                </a:solidFill>
                <a:latin typeface="Microsoft YaHei"/>
              </a:rPr>
              <a:t>有效样本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6000" y="1170000"/>
            <a:ext cx="1908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0" y="1170000"/>
            <a:ext cx="43200" cy="792000"/>
          </a:xfrm>
          <a:prstGeom prst="rect">
            <a:avLst/>
          </a:prstGeom>
          <a:solidFill>
            <a:srgbClr val="18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0" y="1295999"/>
            <a:ext cx="1620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2400" b="1">
                <a:solidFill>
                  <a:srgbClr val="183E62"/>
                </a:solidFill>
                <a:latin typeface="Microsoft YaHei"/>
              </a:rPr>
              <a:t>1,896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6000" y="1620000"/>
            <a:ext cx="1728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200" b="0">
                <a:solidFill>
                  <a:srgbClr val="5C6978"/>
                </a:solidFill>
                <a:latin typeface="Microsoft YaHei"/>
              </a:rPr>
              <a:t>唯一药物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6000" y="1170000"/>
            <a:ext cx="1908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26000" y="1170000"/>
            <a:ext cx="43200" cy="792000"/>
          </a:xfrm>
          <a:prstGeom prst="rect">
            <a:avLst/>
          </a:prstGeom>
          <a:solidFill>
            <a:srgbClr val="D77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0000" y="1295999"/>
            <a:ext cx="1620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2400" b="1">
                <a:solidFill>
                  <a:srgbClr val="D77521"/>
                </a:solidFill>
                <a:latin typeface="Microsoft YaHei"/>
              </a:rPr>
              <a:t>156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6000" y="1620000"/>
            <a:ext cx="1728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200" b="0">
                <a:solidFill>
                  <a:srgbClr val="5C6978"/>
                </a:solidFill>
                <a:latin typeface="Microsoft YaHei"/>
              </a:rPr>
              <a:t>细胞系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6000" y="1170000"/>
            <a:ext cx="1908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96000" y="1170000"/>
            <a:ext cx="43200" cy="792000"/>
          </a:xfrm>
          <a:prstGeom prst="rect">
            <a:avLst/>
          </a:prstGeom>
          <a:solidFill>
            <a:srgbClr val="B8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0000" y="1295999"/>
            <a:ext cx="1620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2400" b="1">
                <a:solidFill>
                  <a:srgbClr val="B84948"/>
                </a:solidFill>
                <a:latin typeface="Microsoft YaHei"/>
              </a:rPr>
              <a:t>14.8%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6000" y="1620000"/>
            <a:ext cx="1728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200" b="0">
                <a:solidFill>
                  <a:srgbClr val="5C6978"/>
                </a:solidFill>
                <a:latin typeface="Microsoft YaHei"/>
              </a:rPr>
              <a:t>协同正例比例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6000" y="2394000"/>
            <a:ext cx="5292000" cy="30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6000" y="2394000"/>
            <a:ext cx="43200" cy="3024000"/>
          </a:xfrm>
          <a:prstGeom prst="rect">
            <a:avLst/>
          </a:prstGeom>
          <a:solidFill>
            <a:srgbClr val="10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2494800"/>
            <a:ext cx="5004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500" b="1">
                <a:solidFill>
                  <a:srgbClr val="10857A"/>
                </a:solidFill>
                <a:latin typeface="Microsoft YaHei"/>
              </a:rPr>
              <a:t>两类任务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000" y="2826000"/>
            <a:ext cx="4896000" cy="1655999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8000"/>
              </a:lnSpc>
            </a:pPr>
            <a:r>
              <a:rPr sz="1700">
                <a:solidFill>
                  <a:srgbClr val="19222D"/>
                </a:solidFill>
                <a:latin typeface="Microsoft YaHei"/>
              </a:rPr>
              <a:t>• 分类：预测协同/非协同，重点报告AUPR、AUC</a:t>
            </a:r>
          </a:p>
          <a:p>
            <a:pPr>
              <a:lnSpc>
                <a:spcPct val="108000"/>
              </a:lnSpc>
            </a:pPr>
            <a:r>
              <a:rPr sz="1700">
                <a:solidFill>
                  <a:srgbClr val="19222D"/>
                </a:solidFill>
                <a:latin typeface="Microsoft YaHei"/>
              </a:rPr>
              <a:t>• 回归：预测连续Loewe score，报告RMSE、MAE</a:t>
            </a:r>
          </a:p>
          <a:p>
            <a:pPr>
              <a:lnSpc>
                <a:spcPct val="108000"/>
              </a:lnSpc>
            </a:pPr>
            <a:r>
              <a:rPr sz="1700">
                <a:solidFill>
                  <a:srgbClr val="19222D"/>
                </a:solidFill>
                <a:latin typeface="Microsoft YaHei"/>
              </a:rPr>
              <a:t>• AUPR更适合正例稀少的候选筛选场景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0000" y="2394000"/>
            <a:ext cx="5472000" cy="30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0000" y="2394000"/>
            <a:ext cx="43200" cy="3024000"/>
          </a:xfrm>
          <a:prstGeom prst="rect">
            <a:avLst/>
          </a:prstGeom>
          <a:solidFill>
            <a:srgbClr val="18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2000" y="2494800"/>
            <a:ext cx="5184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500" b="1">
                <a:solidFill>
                  <a:srgbClr val="183E62"/>
                </a:solidFill>
                <a:latin typeface="Microsoft YaHei"/>
              </a:rPr>
              <a:t>两种划分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0000" y="2826000"/>
            <a:ext cx="5040000" cy="1655999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8000"/>
              </a:lnSpc>
            </a:pPr>
            <a:r>
              <a:rPr sz="1700">
                <a:solidFill>
                  <a:srgbClr val="19222D"/>
                </a:solidFill>
                <a:latin typeface="Microsoft YaHei"/>
              </a:rPr>
              <a:t>• random split：评估已有药物空间内的插值拟合</a:t>
            </a:r>
          </a:p>
          <a:p>
            <a:pPr>
              <a:lnSpc>
                <a:spcPct val="108000"/>
              </a:lnSpc>
            </a:pPr>
            <a:r>
              <a:rPr sz="1700">
                <a:solidFill>
                  <a:srgbClr val="19222D"/>
                </a:solidFill>
                <a:latin typeface="Microsoft YaHei"/>
              </a:rPr>
              <a:t>• cold-drug split：测试药物不出现在训练集中</a:t>
            </a:r>
          </a:p>
          <a:p>
            <a:pPr>
              <a:lnSpc>
                <a:spcPct val="108000"/>
              </a:lnSpc>
            </a:pPr>
            <a:r>
              <a:rPr sz="1700">
                <a:solidFill>
                  <a:srgbClr val="19222D"/>
                </a:solidFill>
                <a:latin typeface="Microsoft YaHei"/>
              </a:rPr>
              <a:t>• 严格cold-drug：train-test药物重叠数为0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96000" y="6408000"/>
            <a:ext cx="396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1000" b="0">
                <a:solidFill>
                  <a:srgbClr val="5C6978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000" y="251999"/>
            <a:ext cx="9360000" cy="37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Microsoft YaHei"/>
              </a:rPr>
              <a:t>方法框架：比较KAN的不同放置位置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6000" y="630000"/>
            <a:ext cx="900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300" b="0">
                <a:solidFill>
                  <a:srgbClr val="5C6978"/>
                </a:solidFill>
                <a:latin typeface="Microsoft YaHei"/>
              </a:rPr>
              <a:t>同一输入、同一任务下，对比直接KAN head、DrugKAN、三元超图与药物对聚合图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000" y="882000"/>
            <a:ext cx="11196000" cy="10800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l_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" y="1082360"/>
            <a:ext cx="6552000" cy="35952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90000" y="1080000"/>
            <a:ext cx="4392000" cy="3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90000" y="1080000"/>
            <a:ext cx="43200" cy="3600000"/>
          </a:xfrm>
          <a:prstGeom prst="rect">
            <a:avLst/>
          </a:prstGeom>
          <a:solidFill>
            <a:srgbClr val="10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000" y="1180800"/>
            <a:ext cx="4104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500" b="1">
                <a:solidFill>
                  <a:srgbClr val="10857A"/>
                </a:solidFill>
                <a:latin typeface="Microsoft YaHei"/>
              </a:rPr>
              <a:t>模型变体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0000" y="1475999"/>
            <a:ext cx="4031999" cy="2412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8000"/>
              </a:lnSpc>
            </a:pPr>
            <a:r>
              <a:rPr sz="1450">
                <a:solidFill>
                  <a:srgbClr val="19222D"/>
                </a:solidFill>
                <a:latin typeface="Microsoft YaHei"/>
              </a:rPr>
              <a:t>• MLP baseline：药物A、药物B、细胞向量拼接后预测</a:t>
            </a:r>
          </a:p>
          <a:p>
            <a:pPr>
              <a:lnSpc>
                <a:spcPct val="108000"/>
              </a:lnSpc>
            </a:pPr>
            <a:r>
              <a:rPr sz="1450">
                <a:solidFill>
                  <a:srgbClr val="19222D"/>
                </a:solidFill>
                <a:latin typeface="Microsoft YaHei"/>
              </a:rPr>
              <a:t>• KAN head：直接用KAN替换最终MLP</a:t>
            </a:r>
          </a:p>
          <a:p>
            <a:pPr>
              <a:lnSpc>
                <a:spcPct val="108000"/>
              </a:lnSpc>
            </a:pPr>
            <a:r>
              <a:rPr sz="1450">
                <a:solidFill>
                  <a:srgbClr val="19222D"/>
                </a:solidFill>
                <a:latin typeface="Microsoft YaHei"/>
              </a:rPr>
              <a:t>• DrugKAN：在药物分子图消息传递中使用KAN</a:t>
            </a:r>
          </a:p>
          <a:p>
            <a:pPr>
              <a:lnSpc>
                <a:spcPct val="108000"/>
              </a:lnSpc>
            </a:pPr>
            <a:r>
              <a:rPr sz="1450">
                <a:solidFill>
                  <a:srgbClr val="19222D"/>
                </a:solidFill>
                <a:latin typeface="Microsoft YaHei"/>
              </a:rPr>
              <a:t>• HgKAN-HG：drug-drug-cell三元超图交互</a:t>
            </a:r>
          </a:p>
          <a:p>
            <a:pPr>
              <a:lnSpc>
                <a:spcPct val="108000"/>
              </a:lnSpc>
            </a:pPr>
            <a:r>
              <a:rPr sz="1450">
                <a:solidFill>
                  <a:srgbClr val="19222D"/>
                </a:solidFill>
                <a:latin typeface="Microsoft YaHei"/>
              </a:rPr>
              <a:t>• HgKAN-Agg：先构造drug-pair节点，再与cell交互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8000" y="4121999"/>
            <a:ext cx="3960000" cy="251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800" b="1">
                <a:solidFill>
                  <a:srgbClr val="10857A"/>
                </a:solidFill>
                <a:latin typeface="Microsoft YaHei"/>
              </a:rPr>
              <a:t>最终主结果：HgKAN-Agg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96000" y="6408000"/>
            <a:ext cx="396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1000" b="0">
                <a:solidFill>
                  <a:srgbClr val="5C6978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000" y="251999"/>
            <a:ext cx="9360000" cy="37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Microsoft YaHei"/>
              </a:rPr>
              <a:t>实验结果：HgKAN-Agg在cold-drug上最明确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6000" y="630000"/>
            <a:ext cx="900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300" b="0">
                <a:solidFill>
                  <a:srgbClr val="5C6978"/>
                </a:solidFill>
                <a:latin typeface="Microsoft YaHei"/>
              </a:rPr>
              <a:t>random split中MLP仍很强；真正有价值的是未见药物泛化下的方向一致改善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000" y="882000"/>
            <a:ext cx="11196000" cy="10800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ld_drug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" y="1387982"/>
            <a:ext cx="5724000" cy="201203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80000" y="1134000"/>
          <a:ext cx="5166000" cy="20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00"/>
                <a:gridCol w="882000"/>
                <a:gridCol w="882000"/>
                <a:gridCol w="954000"/>
                <a:gridCol w="936000"/>
              </a:tblGrid>
              <a:tr h="41760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28800" marR="28800" marT="18000" marB="18000">
                    <a:solidFill>
                      <a:srgbClr val="183E6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AUPR↑</a:t>
                      </a:r>
                    </a:p>
                  </a:txBody>
                  <a:tcPr marL="28800" marR="28800" marT="18000" marB="18000">
                    <a:solidFill>
                      <a:srgbClr val="183E6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AUC↑</a:t>
                      </a:r>
                    </a:p>
                  </a:txBody>
                  <a:tcPr marL="28800" marR="28800" marT="18000" marB="18000">
                    <a:solidFill>
                      <a:srgbClr val="183E6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RMSE↓</a:t>
                      </a:r>
                    </a:p>
                  </a:txBody>
                  <a:tcPr marL="28800" marR="28800" marT="18000" marB="18000">
                    <a:solidFill>
                      <a:srgbClr val="183E6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MAE↓</a:t>
                      </a:r>
                    </a:p>
                  </a:txBody>
                  <a:tcPr marL="28800" marR="28800" marT="18000" marB="18000">
                    <a:solidFill>
                      <a:srgbClr val="183E62"/>
                    </a:solidFill>
                  </a:tcPr>
                </a:tc>
              </a:tr>
              <a:tr h="417600"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MLP baseline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0.2758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0.7333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18.3997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13.6750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417600"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KAN head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0.1717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0.5590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19.2865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14.1486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417600"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DrugKAN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0.1967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0.6485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17.8930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13.1844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417600"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HgKAN-Agg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0.2765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0.7452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17.6763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9222D"/>
                          </a:solidFill>
                          <a:latin typeface="Microsoft YaHei"/>
                        </a:rPr>
                        <a:t>12.8615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80000" y="3401999"/>
            <a:ext cx="5166000" cy="15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80000" y="3401999"/>
            <a:ext cx="43200" cy="1548000"/>
          </a:xfrm>
          <a:prstGeom prst="rect">
            <a:avLst/>
          </a:prstGeom>
          <a:solidFill>
            <a:srgbClr val="D77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2000" y="3502799"/>
            <a:ext cx="4878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500" b="1">
                <a:solidFill>
                  <a:srgbClr val="D77521"/>
                </a:solidFill>
                <a:latin typeface="Microsoft YaHei"/>
              </a:rPr>
              <a:t>结论读法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2000" y="3761999"/>
            <a:ext cx="4824000" cy="972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8000"/>
              </a:lnSpc>
            </a:pPr>
            <a:r>
              <a:rPr sz="1450">
                <a:solidFill>
                  <a:srgbClr val="19222D"/>
                </a:solidFill>
                <a:latin typeface="Microsoft YaHei"/>
              </a:rPr>
              <a:t>• 直接KAN head显著退化：高维拼接表示不适合无结构KAN</a:t>
            </a:r>
          </a:p>
          <a:p>
            <a:pPr>
              <a:lnSpc>
                <a:spcPct val="108000"/>
              </a:lnSpc>
            </a:pPr>
            <a:r>
              <a:rPr sz="1450">
                <a:solidFill>
                  <a:srgbClr val="19222D"/>
                </a:solidFill>
                <a:latin typeface="Microsoft YaHei"/>
              </a:rPr>
              <a:t>• DrugKAN对回归有帮助，但分类协同判别不稳定</a:t>
            </a:r>
          </a:p>
          <a:p>
            <a:pPr>
              <a:lnSpc>
                <a:spcPct val="108000"/>
              </a:lnSpc>
            </a:pPr>
            <a:r>
              <a:rPr sz="1450">
                <a:solidFill>
                  <a:srgbClr val="19222D"/>
                </a:solidFill>
                <a:latin typeface="Microsoft YaHei"/>
              </a:rPr>
              <a:t>• HgKAN-Agg四个主指标方向一致优于MLP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" y="5436000"/>
            <a:ext cx="10908000" cy="251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300" b="0">
                <a:solidFill>
                  <a:srgbClr val="5C6978"/>
                </a:solidFill>
                <a:latin typeface="Microsoft YaHei"/>
              </a:rPr>
              <a:t>注意：提升幅度有限，因此本文强调“适用边界与结构趋势”，不夸大为全面SOTA。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96000" y="6408000"/>
            <a:ext cx="396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1000" b="0">
                <a:solidFill>
                  <a:srgbClr val="5C6978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000" y="251999"/>
            <a:ext cx="9360000" cy="37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Microsoft YaHei"/>
              </a:rPr>
              <a:t>案例解释：模型确实依赖药物对信息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6000" y="630000"/>
            <a:ext cx="900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300" b="0">
                <a:solidFill>
                  <a:srgbClr val="5C6978"/>
                </a:solidFill>
                <a:latin typeface="Microsoft YaHei"/>
              </a:rPr>
              <a:t>Lenalidomide + mitomycin C @ IGROV1，cold-drug测试样本，两种药物均未出现在训练集中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000" y="882000"/>
            <a:ext cx="11196000" cy="10800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se_57954_visual_explan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15" y="1080000"/>
            <a:ext cx="5330769" cy="396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52000" y="1080000"/>
            <a:ext cx="5130000" cy="39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52000" y="1080000"/>
            <a:ext cx="43200" cy="3960000"/>
          </a:xfrm>
          <a:prstGeom prst="rect">
            <a:avLst/>
          </a:prstGeom>
          <a:solidFill>
            <a:srgbClr val="10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14000" y="1180800"/>
            <a:ext cx="4842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500" b="1">
                <a:solidFill>
                  <a:srgbClr val="10857A"/>
                </a:solidFill>
                <a:latin typeface="Microsoft YaHei"/>
              </a:rPr>
              <a:t>关键观察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2000" y="1458000"/>
            <a:ext cx="4752000" cy="2232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8000"/>
              </a:lnSpc>
            </a:pPr>
            <a:r>
              <a:rPr sz="1500">
                <a:solidFill>
                  <a:srgbClr val="19222D"/>
                </a:solidFill>
                <a:latin typeface="Microsoft YaHei"/>
              </a:rPr>
              <a:t>• 真实标签：协同；Loewe score = 12.3335</a:t>
            </a:r>
          </a:p>
          <a:p>
            <a:pPr>
              <a:lnSpc>
                <a:spcPct val="108000"/>
              </a:lnSpc>
            </a:pPr>
            <a:r>
              <a:rPr sz="1500">
                <a:solidFill>
                  <a:srgbClr val="19222D"/>
                </a:solidFill>
                <a:latin typeface="Microsoft YaHei"/>
              </a:rPr>
              <a:t>• 模型基准协同概率：0.9106</a:t>
            </a:r>
          </a:p>
          <a:p>
            <a:pPr>
              <a:lnSpc>
                <a:spcPct val="108000"/>
              </a:lnSpc>
            </a:pPr>
            <a:r>
              <a:rPr sz="1500">
                <a:solidFill>
                  <a:srgbClr val="19222D"/>
                </a:solidFill>
                <a:latin typeface="Microsoft YaHei"/>
              </a:rPr>
              <a:t>• 屏蔽两种药物后降至0.3711</a:t>
            </a:r>
          </a:p>
          <a:p>
            <a:pPr>
              <a:lnSpc>
                <a:spcPct val="108000"/>
              </a:lnSpc>
            </a:pPr>
            <a:r>
              <a:rPr sz="1500">
                <a:solidFill>
                  <a:srgbClr val="19222D"/>
                </a:solidFill>
                <a:latin typeface="Microsoft YaHei"/>
              </a:rPr>
              <a:t>• 药物对表示恢复到15%时，概率升至0.6506并越过阈值</a:t>
            </a:r>
          </a:p>
          <a:p>
            <a:pPr>
              <a:lnSpc>
                <a:spcPct val="108000"/>
              </a:lnSpc>
            </a:pPr>
            <a:r>
              <a:rPr sz="1500">
                <a:solidFill>
                  <a:srgbClr val="19222D"/>
                </a:solidFill>
                <a:latin typeface="Microsoft YaHei"/>
              </a:rPr>
              <a:t>• 原子saliency与glutarimide、quinone/mitosene等已知相关结构有重合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0000" y="4212000"/>
            <a:ext cx="4644000" cy="39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300" b="1">
                <a:solidFill>
                  <a:srgbClr val="B84948"/>
                </a:solidFill>
                <a:latin typeface="Microsoft YaHei"/>
              </a:rPr>
              <a:t>解释边界：这些是模型内部依赖性证据，不能直接替代真实药理机制验证。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96000" y="6408000"/>
            <a:ext cx="396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1000" b="0">
                <a:solidFill>
                  <a:srgbClr val="5C6978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000" y="251999"/>
            <a:ext cx="9360000" cy="37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Microsoft YaHei"/>
              </a:rPr>
              <a:t>结论与展望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6000" y="630000"/>
            <a:ext cx="900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300" b="0">
                <a:solidFill>
                  <a:srgbClr val="5C6978"/>
                </a:solidFill>
                <a:latin typeface="Microsoft YaHei"/>
              </a:rPr>
              <a:t>本文贡献在于系统辨析KAN在药物协同预测中的有效放置方式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000" y="882000"/>
            <a:ext cx="11196000" cy="10800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" y="1116000"/>
            <a:ext cx="3528000" cy="370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000" y="1116000"/>
            <a:ext cx="43200" cy="3708000"/>
          </a:xfrm>
          <a:prstGeom prst="rect">
            <a:avLst/>
          </a:prstGeom>
          <a:solidFill>
            <a:srgbClr val="10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216800"/>
            <a:ext cx="324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500" b="1">
                <a:solidFill>
                  <a:srgbClr val="10857A"/>
                </a:solidFill>
                <a:latin typeface="Microsoft YaHei"/>
              </a:rPr>
              <a:t>主要结论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000" y="1494000"/>
            <a:ext cx="3168000" cy="2268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KAN不是简单替换MLP即可稳定提升的通用模块</a:t>
            </a:r>
          </a:p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单药图编码中的KAN只解决部分结构表示问题</a:t>
            </a:r>
          </a:p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药物对聚合图让KAN在更合适的局部结构中学习非线性消息函数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000" y="1116000"/>
            <a:ext cx="3528000" cy="370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8000" y="1116000"/>
            <a:ext cx="43200" cy="3708000"/>
          </a:xfrm>
          <a:prstGeom prst="rect">
            <a:avLst/>
          </a:prstGeom>
          <a:solidFill>
            <a:srgbClr val="18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0" y="1216800"/>
            <a:ext cx="324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500" b="1">
                <a:solidFill>
                  <a:srgbClr val="183E62"/>
                </a:solidFill>
                <a:latin typeface="Microsoft YaHei"/>
              </a:rPr>
              <a:t>本文贡献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8000" y="1494000"/>
            <a:ext cx="3168000" cy="2268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构建DrugComb药物协同预测数据与严格cold-drug评估</a:t>
            </a:r>
          </a:p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比较KAN head、DrugKAN、HgKAN-HG、HgKAN-Agg等多种变体</a:t>
            </a:r>
          </a:p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建立KAN曲线、扰动、药物对响应和原子saliency解释流程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0000" y="1116000"/>
            <a:ext cx="3491999" cy="370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0000" y="1116000"/>
            <a:ext cx="43200" cy="3708000"/>
          </a:xfrm>
          <a:prstGeom prst="rect">
            <a:avLst/>
          </a:prstGeom>
          <a:solidFill>
            <a:srgbClr val="D77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2000" y="1216800"/>
            <a:ext cx="3203999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500" b="1">
                <a:solidFill>
                  <a:srgbClr val="D77521"/>
                </a:solidFill>
                <a:latin typeface="Microsoft YaHei"/>
              </a:rPr>
              <a:t>不足与后续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0000" y="1494000"/>
            <a:ext cx="3131999" cy="2268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cold-drug分类仍存在明显划分方差</a:t>
            </a:r>
          </a:p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多随机种子和外部数据集验证还需加强</a:t>
            </a:r>
          </a:p>
          <a:p>
            <a:pPr>
              <a:lnSpc>
                <a:spcPct val="108000"/>
              </a:lnSpc>
            </a:pPr>
            <a:r>
              <a:rPr sz="1600">
                <a:solidFill>
                  <a:srgbClr val="19222D"/>
                </a:solidFill>
                <a:latin typeface="Microsoft YaHei"/>
              </a:rPr>
              <a:t>• 未来可加入剂量变量、多组学细胞表征和更系统的解释验证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000" y="5400000"/>
            <a:ext cx="9864000" cy="32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2000" b="1">
                <a:solidFill>
                  <a:srgbClr val="10857A"/>
                </a:solidFill>
                <a:latin typeface="Microsoft YaHei"/>
              </a:rPr>
              <a:t>最终观点：结构先行，KAN作为结构化消息传递中的可学习函数模块更有价值。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4000" y="5886000"/>
            <a:ext cx="4680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800" b="1">
                <a:solidFill>
                  <a:srgbClr val="19222D"/>
                </a:solidFill>
                <a:latin typeface="Microsoft YaHei"/>
              </a:rPr>
              <a:t>谢谢各位老师，欢迎批评指正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96000" y="6408000"/>
            <a:ext cx="396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1000" b="0">
                <a:solidFill>
                  <a:srgbClr val="5C6978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