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Microsoft YaHei"/>
              </a:defRPr>
            </a:pPr>
            <a:r>
              <a:rPr sz="1000" b="0" i="0" u="none" strike="noStrike">
                <a:solidFill>
                  <a:srgbClr val="000000"/>
                </a:solidFill>
                <a:latin typeface="Microsoft YaHei"/>
              </a:rPr>
              <a:t>Classification: higher is better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AUPR</c:v>
                </c:pt>
              </c:strCache>
            </c:strRef>
          </c:tx>
          <c:spPr>
            <a:solidFill>
              <a:srgbClr val="0F8B8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MLP</c:v>
                  </c:pt>
                  <c:pt idx="1">
                    <c:v>KAN head</c:v>
                  </c:pt>
                  <c:pt idx="2">
                    <c:v>DrugKAN</c:v>
                  </c:pt>
                  <c:pt idx="3">
                    <c:v>HgKAN-Agg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0.2758</c:v>
                </c:pt>
                <c:pt idx="1">
                  <c:v>0.1717</c:v>
                </c:pt>
                <c:pt idx="2">
                  <c:v>0.1967</c:v>
                </c:pt>
                <c:pt idx="3">
                  <c:v>0.2765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AUC</c:v>
                </c:pt>
              </c:strCache>
            </c:strRef>
          </c:tx>
          <c:spPr>
            <a:solidFill>
              <a:srgbClr val="8FB8D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MLP</c:v>
                  </c:pt>
                  <c:pt idx="1">
                    <c:v>KAN head</c:v>
                  </c:pt>
                  <c:pt idx="2">
                    <c:v>DrugKAN</c:v>
                  </c:pt>
                  <c:pt idx="3">
                    <c:v>HgKAN-Agg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0.7333</c:v>
                </c:pt>
                <c:pt idx="1">
                  <c:v>0.559</c:v>
                </c:pt>
                <c:pt idx="2">
                  <c:v>0.6485</c:v>
                </c:pt>
                <c:pt idx="3">
                  <c:v>0.7452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8E1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Microsoft YaHei"/>
              </a:defRPr>
            </a:pPr>
            <a:r>
              <a:rPr sz="1000" b="0" i="0" u="none" strike="noStrike">
                <a:solidFill>
                  <a:srgbClr val="000000"/>
                </a:solidFill>
                <a:latin typeface="Microsoft YaHei"/>
              </a:rPr>
              <a:t>Regression: lower is better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RMSE</c:v>
                </c:pt>
              </c:strCache>
            </c:strRef>
          </c:tx>
          <c:spPr>
            <a:solidFill>
              <a:srgbClr val="E85D7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MLP</c:v>
                  </c:pt>
                  <c:pt idx="1">
                    <c:v>KAN head</c:v>
                  </c:pt>
                  <c:pt idx="2">
                    <c:v>DrugKAN</c:v>
                  </c:pt>
                  <c:pt idx="3">
                    <c:v>HgKAN-Agg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18.3997</c:v>
                </c:pt>
                <c:pt idx="1">
                  <c:v>19.2865</c:v>
                </c:pt>
                <c:pt idx="2">
                  <c:v>17.893</c:v>
                </c:pt>
                <c:pt idx="3">
                  <c:v>17.6763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MAE</c:v>
                </c:pt>
              </c:strCache>
            </c:strRef>
          </c:tx>
          <c:spPr>
            <a:solidFill>
              <a:srgbClr val="8FB8D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MLP</c:v>
                  </c:pt>
                  <c:pt idx="1">
                    <c:v>KAN head</c:v>
                  </c:pt>
                  <c:pt idx="2">
                    <c:v>DrugKAN</c:v>
                  </c:pt>
                  <c:pt idx="3">
                    <c:v>HgKAN-Agg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13.675</c:v>
                </c:pt>
                <c:pt idx="1">
                  <c:v>14.1486</c:v>
                </c:pt>
                <c:pt idx="2">
                  <c:v>13.1844</c:v>
                </c:pt>
                <c:pt idx="3">
                  <c:v>12.8615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8E1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各位老师好，我的题目是《基于KAN超图的药物协同预测研究》。
本文关注如何利用药物分子结构、细胞系表达和两药组合关系，预测药物组合协同效应。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联合用药任务的关键是药物A、药物B和细胞背景的三元交互。
因此本文不只比较模型名字，而是系统比较KAN放置位置，并把cold-drug泛化作为重点。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本文构建约16万条样本，包含药物图、细胞表达、二分类标签和Loewe分数。
分类看AUPR和AUC，回归看RMSE和MAE。cold-drug划分中训练和测试药物集合重叠为0。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整体框架包括药物图编码器、细胞表达编码器和交互模块。
关键比较是KAN放置位置：直接预测头、单药图编码、三元超图、药物对聚合图。
最终最有效的是HgKAN-Agg，先形成drug-pair节点，再与cell节点交互。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random split下MLP baseline仍然很强，因此KAN不是通用替代品。
关键在cold-drug结果：KAN head显著退化，DrugKAN分类不稳定，而HgKAN-Agg在分类和回归主要指标上均优于MLP baseline。
这说明药物对聚合图给KAN提供了更合适的结构载体。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案例为Lenalidomide与mitomycin C在IGROV1细胞系上的cold-drug正样本。
模型原始协同概率为0.9106，屏蔽两种药物后降到0.3711；药物对表示恢复到15%时已经越过0.5阈值。
原子saliency还与Lenalidomide的glutarimide环、mitomycin C的quinone/mitosene骨架存在合理重合。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本文最终结论不是KAN全面优于传统深度模型，而是KAN的效果高度依赖放置位置。
在药物协同预测中，它更适合作为结构化消息传递中的可学习非线性函数，而不是无结构地替代最终MLP。
谢谢各位老师。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886200" cy="6858000"/>
          </a:xfrm>
          <a:prstGeom prst="rect">
            <a:avLst/>
          </a:prstGeom>
          <a:solidFill>
            <a:srgbClr val="174A5B"/>
          </a:solidFill>
          <a:ln w="12700">
            <a:solidFill>
              <a:srgbClr val="174A5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01000" y="-411480"/>
            <a:ext cx="3291840" cy="3291840"/>
          </a:xfrm>
          <a:prstGeom prst="arc">
            <a:avLst/>
          </a:prstGeom>
          <a:noFill/>
          <a:ln w="203200">
            <a:solidFill>
              <a:srgbClr val="0F8B8D">
                <a:alpha val="9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26880" y="4389120"/>
            <a:ext cx="1920240" cy="1920240"/>
          </a:xfrm>
          <a:prstGeom prst="arc">
            <a:avLst/>
          </a:prstGeom>
          <a:noFill/>
          <a:ln w="127000">
            <a:solidFill>
              <a:srgbClr val="F2A65A">
                <a:alpha val="8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566928"/>
            <a:ext cx="1234440" cy="310896"/>
          </a:xfrm>
          <a:prstGeom prst="roundRect">
            <a:avLst>
              <a:gd name="adj" fmla="val 17647"/>
            </a:avLst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630936"/>
            <a:ext cx="123444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5分钟答辩版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58368" y="1600200"/>
            <a:ext cx="722376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基于KAN超图的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药物协同预测研究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94944" y="3246120"/>
            <a:ext cx="66751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C8E7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Kolmogorov-Arnold Network for structured drug-drug-cell interaction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498080" y="1920240"/>
            <a:ext cx="1417320" cy="8686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8"/>
            </a:solidFill>
            <a:prstDash val="solid"/>
          </a:ln>
          <a:effectLst>
            <a:outerShdw sx="100000" sy="100000" kx="0" ky="0" algn="bl" rotWithShape="0" blurRad="25400" dist="12700" dir="2700000">
              <a:srgbClr val="0B182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498080" y="1920240"/>
            <a:ext cx="73152" cy="86868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35240" y="2039112"/>
            <a:ext cx="11430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8B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16万+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589520" y="2423160"/>
            <a:ext cx="12344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5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DrugComb相关样本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9144000" y="1920240"/>
            <a:ext cx="1417320" cy="8686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8"/>
            </a:solidFill>
            <a:prstDash val="solid"/>
          </a:ln>
          <a:effectLst>
            <a:outerShdw sx="100000" sy="100000" kx="0" ky="0" algn="bl" rotWithShape="0" blurRad="25400" dist="12700" dir="2700000">
              <a:srgbClr val="0B182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0" y="1920240"/>
            <a:ext cx="73152" cy="868680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81160" y="2039112"/>
            <a:ext cx="11430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A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235440" y="2423160"/>
            <a:ext cx="12344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5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cold-drug药物泄漏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7498080" y="3108960"/>
            <a:ext cx="3063240" cy="8686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8"/>
            </a:solidFill>
            <a:prstDash val="solid"/>
          </a:ln>
          <a:effectLst>
            <a:outerShdw sx="100000" sy="100000" kx="0" ky="0" algn="bl" rotWithShape="0" blurRad="25400" dist="12700" dir="2700000">
              <a:srgbClr val="0B182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498080" y="3108960"/>
            <a:ext cx="73152" cy="868680"/>
          </a:xfrm>
          <a:prstGeom prst="rect">
            <a:avLst/>
          </a:prstGeom>
          <a:solidFill>
            <a:srgbClr val="E85D75"/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35240" y="3227832"/>
            <a:ext cx="27889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5D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HgKAN-Agg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589520" y="3611880"/>
            <a:ext cx="28803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5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主结果模型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13232" y="5989320"/>
            <a:ext cx="69494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C8D8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答辩人：________    指导教师：________    专业：________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543800" y="5074920"/>
            <a:ext cx="297180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结构先行，KAN局部函数化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8696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研究问题：药物协同不是单药性质，而是三元交互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850392"/>
            <a:ext cx="932688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5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联合用药模型更适合作为候选排序工具，而不是替代实验判定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10881360" y="164592"/>
            <a:ext cx="914400" cy="914400"/>
          </a:xfrm>
          <a:prstGeom prst="arc">
            <a:avLst/>
          </a:prstGeom>
          <a:noFill/>
          <a:ln w="101600">
            <a:solidFill>
              <a:srgbClr val="D7F3F0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0352" y="1508760"/>
            <a:ext cx="3383280" cy="4343400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8"/>
            </a:solidFill>
            <a:prstDash val="solid"/>
          </a:ln>
          <a:effectLst>
            <a:outerShdw sx="100000" sy="100000" kx="0" ky="0" algn="bl" rotWithShape="0" blurRad="25400" dist="12700" dir="2700000">
              <a:srgbClr val="0B182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30352" y="1508760"/>
            <a:ext cx="73152" cy="4343400"/>
          </a:xfrm>
          <a:prstGeom prst="rect">
            <a:avLst/>
          </a:prstGeom>
          <a:solidFill>
            <a:srgbClr val="E85D75"/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737360"/>
            <a:ext cx="23774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85D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为什么难？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267712"/>
            <a:ext cx="2697480" cy="2331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0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组合空间随药物数量快速增长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0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协同正例少：约14.8%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0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random划分容易高估泛化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0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药物发现需要可解释线索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34840" y="1508760"/>
            <a:ext cx="3383280" cy="4343400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8"/>
            </a:solidFill>
            <a:prstDash val="solid"/>
          </a:ln>
          <a:effectLst>
            <a:outerShdw sx="100000" sy="100000" kx="0" ky="0" algn="bl" rotWithShape="0" blurRad="25400" dist="12700" dir="2700000">
              <a:srgbClr val="0B182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34840" y="1508760"/>
            <a:ext cx="73152" cy="434340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737360"/>
            <a:ext cx="25603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8B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本文问什么？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727448" y="2267712"/>
            <a:ext cx="2697480" cy="2423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0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KAN能否提升协同预测？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0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应放在预测头、药物图编码器，还是交互层？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0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模型是否真正依赖药物对结构？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339328" y="1508760"/>
            <a:ext cx="3108960" cy="4343400"/>
          </a:xfrm>
          <a:prstGeom prst="rect">
            <a:avLst/>
          </a:prstGeom>
          <a:solidFill>
            <a:srgbClr val="102A43"/>
          </a:solidFill>
          <a:ln w="7620">
            <a:solidFill>
              <a:srgbClr val="102A4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41080" y="1874520"/>
            <a:ext cx="22860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本文答案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641080" y="2487168"/>
            <a:ext cx="251460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A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KAN不是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2A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MLP的通用替代品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641080" y="3767328"/>
            <a:ext cx="251460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D7F3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更适合作为结构化消息传递中的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D7F3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可学习非线性函数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1265408" y="6419088"/>
            <a:ext cx="384048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5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8696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数据与评价：同时覆盖分类、回归和新药泛化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850392"/>
            <a:ext cx="932688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5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严格区分random插值性能与cold-drug未见药物泛化性能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10881360" y="164592"/>
            <a:ext cx="914400" cy="914400"/>
          </a:xfrm>
          <a:prstGeom prst="arc">
            <a:avLst/>
          </a:prstGeom>
          <a:noFill/>
          <a:ln w="101600">
            <a:solidFill>
              <a:srgbClr val="D7F3F0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508760"/>
            <a:ext cx="1920240" cy="8686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8"/>
            </a:solidFill>
            <a:prstDash val="solid"/>
          </a:ln>
          <a:effectLst>
            <a:outerShdw sx="100000" sy="100000" kx="0" ky="0" algn="bl" rotWithShape="0" blurRad="25400" dist="12700" dir="2700000">
              <a:srgbClr val="0B182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508760"/>
            <a:ext cx="73152" cy="86868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627632"/>
            <a:ext cx="16459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8B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160,228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85800" y="2011680"/>
            <a:ext cx="17373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5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有效样本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788920" y="1508760"/>
            <a:ext cx="1920240" cy="8686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8"/>
            </a:solidFill>
            <a:prstDash val="solid"/>
          </a:ln>
          <a:effectLst>
            <a:outerShdw sx="100000" sy="100000" kx="0" ky="0" algn="bl" rotWithShape="0" blurRad="25400" dist="12700" dir="2700000">
              <a:srgbClr val="0B182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88920" y="1508760"/>
            <a:ext cx="73152" cy="868680"/>
          </a:xfrm>
          <a:prstGeom prst="rect">
            <a:avLst/>
          </a:prstGeom>
          <a:solidFill>
            <a:srgbClr val="174A5B"/>
          </a:solidFill>
          <a:ln w="12700">
            <a:solidFill>
              <a:srgbClr val="174A5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26080" y="1627632"/>
            <a:ext cx="16459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4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1,896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880360" y="2011680"/>
            <a:ext cx="17373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5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唯一药物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983480" y="1508760"/>
            <a:ext cx="1920240" cy="8686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8"/>
            </a:solidFill>
            <a:prstDash val="solid"/>
          </a:ln>
          <a:effectLst>
            <a:outerShdw sx="100000" sy="100000" kx="0" ky="0" algn="bl" rotWithShape="0" blurRad="25400" dist="12700" dir="2700000">
              <a:srgbClr val="0B182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983480" y="1508760"/>
            <a:ext cx="73152" cy="868680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0640" y="1627632"/>
            <a:ext cx="16459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A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156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074920" y="2011680"/>
            <a:ext cx="17373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5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细胞系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7178040" y="1508760"/>
            <a:ext cx="1920240" cy="8686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8"/>
            </a:solidFill>
            <a:prstDash val="solid"/>
          </a:ln>
          <a:effectLst>
            <a:outerShdw sx="100000" sy="100000" kx="0" ky="0" algn="bl" rotWithShape="0" blurRad="25400" dist="12700" dir="2700000">
              <a:srgbClr val="0B182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178040" y="1508760"/>
            <a:ext cx="73152" cy="868680"/>
          </a:xfrm>
          <a:prstGeom prst="rect">
            <a:avLst/>
          </a:prstGeom>
          <a:solidFill>
            <a:srgbClr val="E85D75"/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0" y="1627632"/>
            <a:ext cx="16459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5D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14.8%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269480" y="2011680"/>
            <a:ext cx="17373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5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正例比例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9372600" y="1508760"/>
            <a:ext cx="1920240" cy="8686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8"/>
            </a:solidFill>
            <a:prstDash val="solid"/>
          </a:ln>
          <a:effectLst>
            <a:outerShdw sx="100000" sy="100000" kx="0" ky="0" algn="bl" rotWithShape="0" blurRad="25400" dist="12700" dir="2700000">
              <a:srgbClr val="0B182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372600" y="1508760"/>
            <a:ext cx="73152" cy="86868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509760" y="1627632"/>
            <a:ext cx="16459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9464040" y="2011680"/>
            <a:ext cx="17373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5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train-test药物重叠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85800" y="2880360"/>
            <a:ext cx="5166360" cy="2423160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8"/>
            </a:solidFill>
            <a:prstDash val="solid"/>
          </a:ln>
          <a:effectLst>
            <a:outerShdw sx="100000" sy="100000" kx="0" ky="0" algn="bl" rotWithShape="0" blurRad="25400" dist="12700" dir="2700000">
              <a:srgbClr val="0B182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85800" y="2880360"/>
            <a:ext cx="73152" cy="242316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3127248"/>
            <a:ext cx="20116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F8B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输入与任务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960120" y="3584448"/>
            <a:ext cx="4370832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0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输入：药物A分子图 + 药物B分子图 + 细胞系表达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0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分类：协同/非协同，报告AUPR与AUC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0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回归：连续Loewe score，报告RMSE与MAE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355080" y="2880360"/>
            <a:ext cx="5166360" cy="2423160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8"/>
            </a:solidFill>
            <a:prstDash val="solid"/>
          </a:ln>
          <a:effectLst>
            <a:outerShdw sx="100000" sy="100000" kx="0" ky="0" algn="bl" rotWithShape="0" blurRad="25400" dist="12700" dir="2700000">
              <a:srgbClr val="0B182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355080" y="2880360"/>
            <a:ext cx="73152" cy="2423160"/>
          </a:xfrm>
          <a:prstGeom prst="rect">
            <a:avLst/>
          </a:prstGeom>
          <a:solidFill>
            <a:srgbClr val="174A5B"/>
          </a:solidFill>
          <a:ln w="12700">
            <a:solidFill>
              <a:srgbClr val="174A5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83680" y="3127248"/>
            <a:ext cx="20116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74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评价协议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6629400" y="3584448"/>
            <a:ext cx="4370832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0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random split：检验已有药物空间中的插值拟合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0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cold-drug split：测试药物未出现在训练集中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0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主结论优先依据更接近新药筛选的cold-drug场景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1265408" y="6419088"/>
            <a:ext cx="384048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5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8696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方法框架：比较KAN的不同放置位置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850392"/>
            <a:ext cx="932688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5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同一输入和任务下，辨析“直接替换”与“结构化消息传递”的差异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10881360" y="164592"/>
            <a:ext cx="914400" cy="914400"/>
          </a:xfrm>
          <a:prstGeom prst="arc">
            <a:avLst/>
          </a:prstGeom>
          <a:noFill/>
          <a:ln w="101600">
            <a:solidFill>
              <a:srgbClr val="D7F3F0">
                <a:alpha val="60000"/>
              </a:srgbClr>
            </a:solidFill>
            <a:prstDash val="solid"/>
          </a:ln>
        </p:spPr>
      </p:sp>
      <p:pic>
        <p:nvPicPr>
          <p:cNvPr id="5" name="Image 0" descr="/home/bioinfo202200130116/bioinfo/codebasev5/docs/thesis/figures/model_architecture_overview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417320"/>
            <a:ext cx="6629400" cy="36576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452360" y="1417320"/>
            <a:ext cx="4160520" cy="3657600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8"/>
            </a:solidFill>
            <a:prstDash val="solid"/>
          </a:ln>
          <a:effectLst>
            <a:outerShdw sx="100000" sy="100000" kx="0" ky="0" algn="bl" rotWithShape="0" blurRad="25400" dist="12700" dir="2700000">
              <a:srgbClr val="0B182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452360" y="1417320"/>
            <a:ext cx="73152" cy="365760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26680" y="1691640"/>
            <a:ext cx="21945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F8B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四类模型变体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754112" y="2148840"/>
            <a:ext cx="3337560" cy="2057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080" dirty="0">
                <a:solidFill>
                  <a:srgbClr val="20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MLP baseline：拼接后预测</a:t>
            </a:r>
            <a:endParaRPr lang="en-US" sz="1080" dirty="0"/>
          </a:p>
          <a:p>
            <a:pPr marL="342900" indent="-342900">
              <a:buSzPct val="100000"/>
              <a:buChar char="•"/>
            </a:pPr>
            <a:r>
              <a:rPr lang="en-US" sz="1080" dirty="0">
                <a:solidFill>
                  <a:srgbClr val="20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KAN head：直接替换最终MLP</a:t>
            </a:r>
            <a:endParaRPr lang="en-US" sz="1080" dirty="0"/>
          </a:p>
          <a:p>
            <a:pPr marL="342900" indent="-342900">
              <a:buSzPct val="100000"/>
              <a:buChar char="•"/>
            </a:pPr>
            <a:r>
              <a:rPr lang="en-US" sz="1080" dirty="0">
                <a:solidFill>
                  <a:srgbClr val="20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DrugKAN：药物分子图消息函数</a:t>
            </a:r>
            <a:endParaRPr lang="en-US" sz="1080" dirty="0"/>
          </a:p>
          <a:p>
            <a:pPr marL="342900" indent="-342900">
              <a:buSzPct val="100000"/>
              <a:buChar char="•"/>
            </a:pPr>
            <a:r>
              <a:rPr lang="en-US" sz="1080" dirty="0">
                <a:solidFill>
                  <a:srgbClr val="20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HgKAN-HG：三元超图交互</a:t>
            </a:r>
            <a:endParaRPr lang="en-US" sz="1080" dirty="0"/>
          </a:p>
          <a:p>
            <a:pPr marL="342900" indent="-342900">
              <a:buSzPct val="100000"/>
              <a:buChar char="•"/>
            </a:pPr>
            <a:r>
              <a:rPr lang="en-US" sz="1080" dirty="0">
                <a:solidFill>
                  <a:srgbClr val="20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HgKAN-Agg：drug-pair节点 + cell交互</a:t>
            </a:r>
            <a:endParaRPr lang="en-US" sz="1080" dirty="0"/>
          </a:p>
        </p:txBody>
      </p:sp>
      <p:sp>
        <p:nvSpPr>
          <p:cNvPr id="10" name="Shape 7"/>
          <p:cNvSpPr/>
          <p:nvPr/>
        </p:nvSpPr>
        <p:spPr>
          <a:xfrm>
            <a:off x="3657600" y="5413248"/>
            <a:ext cx="914400" cy="384048"/>
          </a:xfrm>
          <a:prstGeom prst="chevron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97280" y="5440680"/>
            <a:ext cx="20116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4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药物图编码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663440" y="5440680"/>
            <a:ext cx="22860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4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drug-drug-cell交互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8046720" y="5440680"/>
            <a:ext cx="292608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E85D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最终主结果：HgKAN-Agg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11265408" y="6419088"/>
            <a:ext cx="384048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5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8696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实验结果：HgKAN-Agg在cold-drug上方向最一致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850392"/>
            <a:ext cx="932688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5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提升幅度不夸大，重点是KAN适用边界与结构趋势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10881360" y="164592"/>
            <a:ext cx="914400" cy="914400"/>
          </a:xfrm>
          <a:prstGeom prst="arc">
            <a:avLst/>
          </a:prstGeom>
          <a:noFill/>
          <a:ln w="101600">
            <a:solidFill>
              <a:srgbClr val="D7F3F0">
                <a:alpha val="60000"/>
              </a:srgbClr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502920" y="1417320"/>
          <a:ext cx="52578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502920" y="3703320"/>
          <a:ext cx="52578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6400800" y="1417320"/>
            <a:ext cx="5257800" cy="4251960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8"/>
            </a:solidFill>
            <a:prstDash val="solid"/>
          </a:ln>
          <a:effectLst>
            <a:outerShdw sx="100000" sy="100000" kx="0" ky="0" algn="bl" rotWithShape="0" blurRad="25400" dist="12700" dir="2700000">
              <a:srgbClr val="0B1820">
                <a:alpha val="12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6400800" y="1417320"/>
            <a:ext cx="73152" cy="4251960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6675120" y="1691640"/>
            <a:ext cx="23774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2A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Cold-drug主结果</a:t>
            </a:r>
            <a:endParaRPr lang="en-US" sz="14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93408" y="2148840"/>
          <a:ext cx="4663440" cy="1508760"/>
        </p:xfrm>
        <a:graphic>
          <a:graphicData uri="http://schemas.openxmlformats.org/drawingml/2006/table">
            <a:tbl>
              <a:tblPr/>
              <a:tblGrid>
                <a:gridCol w="1143000"/>
                <a:gridCol w="804672"/>
                <a:gridCol w="749808"/>
                <a:gridCol w="1005840"/>
                <a:gridCol w="960120"/>
              </a:tblGrid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4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AUPR↑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4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AUC↑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4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RMSE↓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4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MAE↓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4A5B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MLP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0.2758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0.7333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18.3997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13.6750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KAN head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0.1717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0.5590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19.2865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14.1486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DrugKAN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0.1967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0.6485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17.8930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13.1844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HgKAN-Agg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0.2765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0.7452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17.6763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12.8615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6"/>
          <p:cNvSpPr/>
          <p:nvPr/>
        </p:nvSpPr>
        <p:spPr>
          <a:xfrm>
            <a:off x="6748272" y="3977640"/>
            <a:ext cx="434340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060" dirty="0">
                <a:solidFill>
                  <a:srgbClr val="20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直接KAN head退化：高维拼接表示不适合无结构KAN</a:t>
            </a:r>
            <a:endParaRPr lang="en-US" sz="1060" dirty="0"/>
          </a:p>
          <a:p>
            <a:pPr marL="342900" indent="-342900">
              <a:buSzPct val="100000"/>
              <a:buChar char="•"/>
            </a:pPr>
            <a:r>
              <a:rPr lang="en-US" sz="1060" dirty="0">
                <a:solidFill>
                  <a:srgbClr val="20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DrugKAN回归有收益，但分类不稳定</a:t>
            </a:r>
            <a:endParaRPr lang="en-US" sz="1060" dirty="0"/>
          </a:p>
          <a:p>
            <a:pPr marL="342900" indent="-342900">
              <a:buSzPct val="100000"/>
              <a:buChar char="•"/>
            </a:pPr>
            <a:r>
              <a:rPr lang="en-US" sz="1060" dirty="0">
                <a:solidFill>
                  <a:srgbClr val="20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HgKAN-Agg四个主指标均优于MLP baseline</a:t>
            </a:r>
            <a:endParaRPr lang="en-US" sz="1060" dirty="0"/>
          </a:p>
        </p:txBody>
      </p:sp>
      <p:sp>
        <p:nvSpPr>
          <p:cNvPr id="12" name="Text 7"/>
          <p:cNvSpPr/>
          <p:nvPr/>
        </p:nvSpPr>
        <p:spPr>
          <a:xfrm>
            <a:off x="11265408" y="6419088"/>
            <a:ext cx="384048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5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8696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案例解释：模型输出会随药物对信息改变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850392"/>
            <a:ext cx="932688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5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Lenalidomide + mitomycin C @ IGROV1；cold-drug正样本，两药均未出现在训练集中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10881360" y="164592"/>
            <a:ext cx="914400" cy="914400"/>
          </a:xfrm>
          <a:prstGeom prst="arc">
            <a:avLst/>
          </a:prstGeom>
          <a:noFill/>
          <a:ln w="101600">
            <a:solidFill>
              <a:srgbClr val="D7F3F0">
                <a:alpha val="60000"/>
              </a:srgbClr>
            </a:solidFill>
            <a:prstDash val="solid"/>
          </a:ln>
        </p:spPr>
      </p:sp>
      <p:pic>
        <p:nvPicPr>
          <p:cNvPr id="5" name="Image 0" descr="/home/bioinfo202200130116/bioinfo/codebasev5/docs/thesis/figures/case_57954_visual_explanation_overview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344168"/>
            <a:ext cx="6400800" cy="455371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15200" y="1417320"/>
            <a:ext cx="4315968" cy="4480560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8"/>
            </a:solidFill>
            <a:prstDash val="solid"/>
          </a:ln>
          <a:effectLst>
            <a:outerShdw sx="100000" sy="100000" kx="0" ky="0" algn="bl" rotWithShape="0" blurRad="25400" dist="12700" dir="2700000">
              <a:srgbClr val="0B182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315200" y="1417320"/>
            <a:ext cx="73152" cy="448056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589520" y="1700784"/>
            <a:ext cx="18288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F8B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解释链条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7607808" y="2176272"/>
            <a:ext cx="1234440" cy="8686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8"/>
            </a:solidFill>
            <a:prstDash val="solid"/>
          </a:ln>
          <a:effectLst>
            <a:outerShdw sx="100000" sy="100000" kx="0" ky="0" algn="bl" rotWithShape="0" blurRad="25400" dist="12700" dir="2700000">
              <a:srgbClr val="0B182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607808" y="2176272"/>
            <a:ext cx="73152" cy="86868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44968" y="2295144"/>
            <a:ext cx="9601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8B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0.9106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7699248" y="2679192"/>
            <a:ext cx="10515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5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原始协同概率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9052560" y="2176272"/>
            <a:ext cx="1234440" cy="8686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8"/>
            </a:solidFill>
            <a:prstDash val="solid"/>
          </a:ln>
          <a:effectLst>
            <a:outerShdw sx="100000" sy="100000" kx="0" ky="0" algn="bl" rotWithShape="0" blurRad="25400" dist="12700" dir="2700000">
              <a:srgbClr val="0B182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9052560" y="2176272"/>
            <a:ext cx="73152" cy="868680"/>
          </a:xfrm>
          <a:prstGeom prst="rect">
            <a:avLst/>
          </a:prstGeom>
          <a:solidFill>
            <a:srgbClr val="E85D75"/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189720" y="2295144"/>
            <a:ext cx="9601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5D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0.3711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9144000" y="2679192"/>
            <a:ext cx="10515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5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屏蔽两药后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10497312" y="2176272"/>
            <a:ext cx="960120" cy="8686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8"/>
            </a:solidFill>
            <a:prstDash val="solid"/>
          </a:ln>
          <a:effectLst>
            <a:outerShdw sx="100000" sy="100000" kx="0" ky="0" algn="bl" rotWithShape="0" blurRad="25400" dist="12700" dir="2700000">
              <a:srgbClr val="0B182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10497312" y="2176272"/>
            <a:ext cx="73152" cy="868680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0634472" y="2295144"/>
            <a:ext cx="6858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A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0.6506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10588752" y="2679192"/>
            <a:ext cx="7772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5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恢复15%药物对表示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7616952" y="3401568"/>
            <a:ext cx="352044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060" dirty="0">
                <a:solidFill>
                  <a:srgbClr val="20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药物扰动：屏蔽两药使预测从协同区间降至非协同区间</a:t>
            </a:r>
            <a:endParaRPr lang="en-US" sz="1060" dirty="0"/>
          </a:p>
          <a:p>
            <a:pPr marL="342900" indent="-342900">
              <a:buSzPct val="100000"/>
              <a:buChar char="•"/>
            </a:pPr>
            <a:r>
              <a:rPr lang="en-US" sz="1060" dirty="0">
                <a:solidFill>
                  <a:srgbClr val="20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响应曲线：药物对表示恢复时，输出呈非线性上升</a:t>
            </a:r>
            <a:endParaRPr lang="en-US" sz="1060" dirty="0"/>
          </a:p>
          <a:p>
            <a:pPr marL="342900" indent="-342900">
              <a:buSzPct val="100000"/>
              <a:buChar char="•"/>
            </a:pPr>
            <a:r>
              <a:rPr lang="en-US" sz="1060" dirty="0">
                <a:solidFill>
                  <a:srgbClr val="20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原子saliency：高贡献区域与已知相关子结构重合</a:t>
            </a:r>
            <a:endParaRPr lang="en-US" sz="1060" dirty="0"/>
          </a:p>
        </p:txBody>
      </p:sp>
      <p:sp>
        <p:nvSpPr>
          <p:cNvPr id="22" name="Text 19"/>
          <p:cNvSpPr/>
          <p:nvPr/>
        </p:nvSpPr>
        <p:spPr>
          <a:xfrm>
            <a:off x="7635240" y="5138928"/>
            <a:ext cx="338328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E85D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边界：这是模型内部依赖性证据，不能直接等同于真实药理机制验证。</a:t>
            </a:r>
            <a:endParaRPr lang="en-US" sz="980" dirty="0"/>
          </a:p>
        </p:txBody>
      </p:sp>
      <p:sp>
        <p:nvSpPr>
          <p:cNvPr id="23" name="Text 20"/>
          <p:cNvSpPr/>
          <p:nvPr/>
        </p:nvSpPr>
        <p:spPr>
          <a:xfrm>
            <a:off x="11265408" y="6419088"/>
            <a:ext cx="384048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5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658368"/>
            <a:ext cx="88696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结论：KAN的价值取决于结构化放置位置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216152"/>
            <a:ext cx="79552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C8D8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本文不是证明KAN全面优于MLP，而是明确它在药物协同预测中的适用边界。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85800" y="1938528"/>
            <a:ext cx="3337560" cy="2560320"/>
          </a:xfrm>
          <a:prstGeom prst="rect">
            <a:avLst/>
          </a:prstGeom>
          <a:solidFill>
            <a:srgbClr val="173D4C"/>
          </a:solidFill>
          <a:ln w="7620">
            <a:solidFill>
              <a:srgbClr val="173D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2212848"/>
            <a:ext cx="16459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D7F3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主要结论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960120" y="2697480"/>
            <a:ext cx="251460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08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无结构替换预测头效果较差</a:t>
            </a:r>
            <a:endParaRPr lang="en-US" sz="1080" dirty="0"/>
          </a:p>
          <a:p>
            <a:pPr marL="342900" indent="-342900">
              <a:buSzPct val="100000"/>
              <a:buChar char="•"/>
            </a:pPr>
            <a:r>
              <a:rPr lang="en-US" sz="108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单药DrugKAN收益有限且任务依赖</a:t>
            </a:r>
            <a:endParaRPr lang="en-US" sz="1080" dirty="0"/>
          </a:p>
          <a:p>
            <a:pPr marL="342900" indent="-342900">
              <a:buSzPct val="100000"/>
              <a:buChar char="•"/>
            </a:pPr>
            <a:r>
              <a:rPr lang="en-US" sz="108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HgKAN-Agg是当前最明确正结果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4434840" y="1938528"/>
            <a:ext cx="3337560" cy="2560320"/>
          </a:xfrm>
          <a:prstGeom prst="rect">
            <a:avLst/>
          </a:prstGeom>
          <a:solidFill>
            <a:srgbClr val="173D4C"/>
          </a:solidFill>
          <a:ln w="7620">
            <a:solidFill>
              <a:srgbClr val="173D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81728" y="2212848"/>
            <a:ext cx="16459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2A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本文贡献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709160" y="2697480"/>
            <a:ext cx="251460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08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严格cold-drug评估与泄漏检查</a:t>
            </a:r>
            <a:endParaRPr lang="en-US" sz="1080" dirty="0"/>
          </a:p>
          <a:p>
            <a:pPr marL="342900" indent="-342900">
              <a:buSzPct val="100000"/>
              <a:buChar char="•"/>
            </a:pPr>
            <a:r>
              <a:rPr lang="en-US" sz="108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系统比较KAN多种放置方式</a:t>
            </a:r>
            <a:endParaRPr lang="en-US" sz="1080" dirty="0"/>
          </a:p>
          <a:p>
            <a:pPr marL="342900" indent="-342900">
              <a:buSzPct val="100000"/>
              <a:buChar char="•"/>
            </a:pPr>
            <a:r>
              <a:rPr lang="en-US" sz="108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构建扰动与原子saliency解释流程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8183880" y="1938528"/>
            <a:ext cx="3337560" cy="2560320"/>
          </a:xfrm>
          <a:prstGeom prst="rect">
            <a:avLst/>
          </a:prstGeom>
          <a:solidFill>
            <a:srgbClr val="173D4C"/>
          </a:solidFill>
          <a:ln w="7620">
            <a:solidFill>
              <a:srgbClr val="173D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30768" y="2212848"/>
            <a:ext cx="16459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85D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后续工作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8458200" y="2697480"/>
            <a:ext cx="251460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08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更多seed与外部数据集验证</a:t>
            </a:r>
            <a:endParaRPr lang="en-US" sz="1080" dirty="0"/>
          </a:p>
          <a:p>
            <a:pPr marL="342900" indent="-342900">
              <a:buSzPct val="100000"/>
              <a:buChar char="•"/>
            </a:pPr>
            <a:r>
              <a:rPr lang="en-US" sz="108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加入剂量变量和多组学特征</a:t>
            </a:r>
            <a:endParaRPr lang="en-US" sz="1080" dirty="0"/>
          </a:p>
          <a:p>
            <a:pPr marL="342900" indent="-342900">
              <a:buSzPct val="100000"/>
              <a:buChar char="•"/>
            </a:pPr>
            <a:r>
              <a:rPr lang="en-US" sz="108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更系统的解释性统计验证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1463040" y="5166360"/>
            <a:ext cx="92354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7F3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结构先行，KAN作为结构化消息传递中的可学习函数模块更有价值。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657600" y="5989320"/>
            <a:ext cx="49377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谢谢各位老师，欢迎批评指正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265408" y="6419088"/>
            <a:ext cx="384048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577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Generated with pptx skill workflow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基于KAN超图的药物协同预测研究</dc:title>
  <dc:subject>本科毕业论文答辩</dc:subject>
  <dc:creator>Codex</dc:creator>
  <cp:lastModifiedBy>Codex</cp:lastModifiedBy>
  <cp:revision>1</cp:revision>
  <dcterms:created xsi:type="dcterms:W3CDTF">2026-05-29T13:16:49Z</dcterms:created>
  <dcterms:modified xsi:type="dcterms:W3CDTF">2026-05-29T13:16:49Z</dcterms:modified>
</cp:coreProperties>
</file>