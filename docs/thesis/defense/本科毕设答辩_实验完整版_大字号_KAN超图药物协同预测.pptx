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各位老师好，本版PPT把实验链条展开，并统一放大字号，便于投屏答辩。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这页用于告诉老师：本文不是只做一个模型，而是在系统比较KAN的放置位置。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强调评价协议：random只是插值，cold-drug更接近新药筛选。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方法页用来说明实验矩阵。接下来每组实验都围绕KAN放置位置展开。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random实验是负结果证据：KAN理论表达能力不能自动转化为任务收益。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cold-drug是主结果：HgKAN-Agg在AUPR、AUC、RMSE、MAE四个指标上方向一致优于baseline。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这一页补上实验完整性：说明seed波动，也说明本文没有过度包装。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这页补充基函数与参数量，避免老师觉得只挑了主结果。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可解释性实验包括扰动、药物对表示恢复、KAN函数和原子saliency。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最后总结：KAN不是万能替代品，关键是放在结构化消息传递中。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64D59"/>
          </a:solidFill>
          <a:ln w="12700">
            <a:solidFill>
              <a:srgbClr val="164D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320040"/>
            <a:ext cx="2926080" cy="2926080"/>
          </a:xfrm>
          <a:prstGeom prst="arc">
            <a:avLst/>
          </a:prstGeom>
          <a:noFill/>
          <a:ln w="203200">
            <a:solidFill>
              <a:srgbClr val="0B8F8A">
                <a:alpha val="9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DF4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实验完整版 · 大字号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76809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基于KAN超图的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药物协同预测研究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13232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本科毕业论文答辩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406640" y="1965960"/>
            <a:ext cx="18288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1965960"/>
            <a:ext cx="82296" cy="105156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34656" y="2112264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10页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16368" y="2587752"/>
            <a:ext cx="1609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含完整实验链条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55480" y="1965960"/>
            <a:ext cx="18288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555480" y="1965960"/>
            <a:ext cx="82296" cy="10515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3496" y="2112264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16万+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65208" y="2587752"/>
            <a:ext cx="1609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DrugComb样本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3291840"/>
            <a:ext cx="18288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0" y="3291840"/>
            <a:ext cx="82296" cy="1051560"/>
          </a:xfrm>
          <a:prstGeom prst="rect">
            <a:avLst/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34656" y="3438144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516368" y="3913632"/>
            <a:ext cx="1609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cold-drug泄漏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55480" y="3291840"/>
            <a:ext cx="18288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55480" y="3291840"/>
            <a:ext cx="82296" cy="105156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83496" y="3438144"/>
            <a:ext cx="157276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HgKAN-Agg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65208" y="3913632"/>
            <a:ext cx="1609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主结果模型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989320"/>
            <a:ext cx="6858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7D9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答辩人：________    指导教师：________    专业：________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研究问题与贡献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本文关注KAN在药物协同预测中的有效放置方式，而不是简单比较模型名称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18520" y="109728"/>
            <a:ext cx="731520" cy="731520"/>
          </a:xfrm>
          <a:prstGeom prst="arc">
            <a:avLst/>
          </a:prstGeom>
          <a:noFill/>
          <a:ln w="101600">
            <a:solidFill>
              <a:srgbClr val="DDF4F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44752"/>
            <a:ext cx="3429000" cy="4480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44752"/>
            <a:ext cx="82296" cy="4480560"/>
          </a:xfrm>
          <a:prstGeom prst="rect">
            <a:avLst/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任务难点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65176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药物组合空间快速增长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协同正例少，AUPR更关键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 split易高估泛化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需要可解释的结构线索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444752"/>
            <a:ext cx="3429000" cy="4480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444752"/>
            <a:ext cx="82296" cy="448056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709160" y="2331720"/>
            <a:ext cx="265176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KAN能否直接替换MLP？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DrugKAN是否提升单药图表示？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交互层结构是否更重要？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模型是否依赖药物对信息？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38160" y="1444752"/>
            <a:ext cx="3429000" cy="4480560"/>
          </a:xfrm>
          <a:prstGeom prst="rect">
            <a:avLst/>
          </a:prstGeom>
          <a:solidFill>
            <a:srgbClr val="0E2B3F"/>
          </a:solidFill>
          <a:ln w="8890">
            <a:solidFill>
              <a:srgbClr val="0E2B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本文贡献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58200" y="2331720"/>
            <a:ext cx="26060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构建16万级药物协同数据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系统消融KAN放置位置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验证HgKAN-Agg在cold-drug中的趋势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建立扰动 + saliency解释流程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数据与评价协议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实验覆盖分类、回归、random插值和cold-drug未见药物泛化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18520" y="109728"/>
            <a:ext cx="731520" cy="731520"/>
          </a:xfrm>
          <a:prstGeom prst="arc">
            <a:avLst/>
          </a:prstGeom>
          <a:noFill/>
          <a:ln w="101600">
            <a:solidFill>
              <a:srgbClr val="DDF4F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92024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17320"/>
            <a:ext cx="82296" cy="105156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563624"/>
            <a:ext cx="16642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160,228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95528" y="2039112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417320"/>
            <a:ext cx="192024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71800" y="1417320"/>
            <a:ext cx="82296" cy="1051560"/>
          </a:xfrm>
          <a:prstGeom prst="rect">
            <a:avLst/>
          </a:prstGeom>
          <a:solidFill>
            <a:srgbClr val="0E2B3F"/>
          </a:solidFill>
          <a:ln w="12700">
            <a:solidFill>
              <a:srgbClr val="0E2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1563624"/>
            <a:ext cx="16642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2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1,896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81528" y="2039112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1417320"/>
            <a:ext cx="192024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57800" y="1417320"/>
            <a:ext cx="82296" cy="10515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5816" y="1563624"/>
            <a:ext cx="16642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67528" y="2039112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43800" y="1417320"/>
            <a:ext cx="192024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43800" y="1417320"/>
            <a:ext cx="82296" cy="1051560"/>
          </a:xfrm>
          <a:prstGeom prst="rect">
            <a:avLst/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71816" y="1563624"/>
            <a:ext cx="166420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14.8%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653528" y="2039112"/>
            <a:ext cx="1700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正例比例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29800" y="1417320"/>
            <a:ext cx="141732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29800" y="1417320"/>
            <a:ext cx="82296" cy="1051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57816" y="1563624"/>
            <a:ext cx="116128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39528" y="2039112"/>
            <a:ext cx="11978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药物泄漏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2971800"/>
            <a:ext cx="5074920" cy="237744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971800"/>
            <a:ext cx="82296" cy="237744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输入与任务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24128" y="3822192"/>
            <a:ext cx="41148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输入：药物A图 + 药物B图 + 细胞表达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分类：AUPR / AUC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回归：RMSE / MAE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309360" y="2971800"/>
            <a:ext cx="5074920" cy="237744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971800"/>
            <a:ext cx="82296" cy="2377440"/>
          </a:xfrm>
          <a:prstGeom prst="rect">
            <a:avLst/>
          </a:prstGeom>
          <a:solidFill>
            <a:srgbClr val="0E2B3F"/>
          </a:solidFill>
          <a:ln w="12700">
            <a:solidFill>
              <a:srgbClr val="0E2B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246120"/>
            <a:ext cx="2103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2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划分设计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601968" y="3822192"/>
            <a:ext cx="41148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random：已有药物空间内插值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cold-drug：测试药物未出现在训练集中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主结论更重视cold-drug泛化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模型设计：KAN放在哪里？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同一任务下比较预测头、药物图编码器、三元超图和药物对聚合图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18520" y="109728"/>
            <a:ext cx="731520" cy="731520"/>
          </a:xfrm>
          <a:prstGeom prst="arc">
            <a:avLst/>
          </a:prstGeom>
          <a:noFill/>
          <a:ln w="101600">
            <a:solidFill>
              <a:srgbClr val="DDF4F1">
                <a:alpha val="75000"/>
              </a:srgbClr>
            </a:solidFill>
            <a:prstDash val="solid"/>
          </a:ln>
        </p:spPr>
      </p:sp>
      <p:pic>
        <p:nvPicPr>
          <p:cNvPr id="5" name="Image 0" descr="/home/bioinfo202200130116/bioinfo/codebasev5/docs/thesis/figures/model_architecture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25880"/>
            <a:ext cx="672084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325880"/>
            <a:ext cx="3794760" cy="416052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35240" y="1325880"/>
            <a:ext cx="82296" cy="416052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对照模型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955280" y="2148840"/>
            <a:ext cx="29260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8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 baseline：拼接后预测</a:t>
            </a:r>
            <a:endParaRPr lang="en-US" sz="1580" dirty="0"/>
          </a:p>
          <a:p>
            <a:pPr marL="342900" indent="-342900">
              <a:buSzPct val="100000"/>
              <a:buChar char="•"/>
            </a:pPr>
            <a:r>
              <a:rPr lang="en-US" sz="158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 head：直接替换MLP</a:t>
            </a:r>
            <a:endParaRPr lang="en-US" sz="1580" dirty="0"/>
          </a:p>
          <a:p>
            <a:pPr marL="342900" indent="-342900">
              <a:buSzPct val="100000"/>
              <a:buChar char="•"/>
            </a:pPr>
            <a:r>
              <a:rPr lang="en-US" sz="158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DrugKAN：药物图编码器使用KAN</a:t>
            </a:r>
            <a:endParaRPr lang="en-US" sz="1580" dirty="0"/>
          </a:p>
          <a:p>
            <a:pPr marL="342900" indent="-342900">
              <a:buSzPct val="100000"/>
              <a:buChar char="•"/>
            </a:pPr>
            <a:r>
              <a:rPr lang="en-US" sz="158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HgKAN-HG：三元超图交互</a:t>
            </a:r>
            <a:endParaRPr lang="en-US" sz="1580" dirty="0"/>
          </a:p>
          <a:p>
            <a:pPr marL="342900" indent="-342900">
              <a:buSzPct val="100000"/>
              <a:buChar char="•"/>
            </a:pPr>
            <a:r>
              <a:rPr lang="en-US" sz="158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HgKAN-Agg：药物对聚合图交互</a:t>
            </a:r>
            <a:endParaRPr lang="en-US" sz="1580" dirty="0"/>
          </a:p>
          <a:p>
            <a:pPr marL="342900" indent="-342900">
              <a:buSzPct val="100000"/>
              <a:buChar char="•"/>
            </a:pPr>
            <a:r>
              <a:rPr lang="en-US" sz="158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DrugKAN + HgKAN：叠加模型</a:t>
            </a:r>
            <a:endParaRPr lang="en-US" sz="1580" dirty="0"/>
          </a:p>
        </p:txBody>
      </p:sp>
      <p:sp>
        <p:nvSpPr>
          <p:cNvPr id="10" name="Text 7"/>
          <p:cNvSpPr/>
          <p:nvPr/>
        </p:nvSpPr>
        <p:spPr>
          <a:xfrm>
            <a:off x="1005840" y="58704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比较目的：区分“增加KAN参数”和“把KAN放在合适结构中”。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实验一：Random split 插值性能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结论：MLP baseline仍然很强；直接KAN head没有带来稳定收益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18520" y="109728"/>
            <a:ext cx="731520" cy="731520"/>
          </a:xfrm>
          <a:prstGeom prst="arc">
            <a:avLst/>
          </a:prstGeom>
          <a:noFill/>
          <a:ln w="101600">
            <a:solidFill>
              <a:srgbClr val="DDF4F1">
                <a:alpha val="75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6629400" cy="4434840"/>
        </p:xfrm>
        <a:graphic>
          <a:graphicData uri="http://schemas.openxmlformats.org/drawingml/2006/table">
            <a:tbl>
              <a:tblPr/>
              <a:tblGrid>
                <a:gridCol w="2057400"/>
                <a:gridCol w="1051560"/>
                <a:gridCol w="1051560"/>
                <a:gridCol w="1234440"/>
                <a:gridCol w="1234440"/>
              </a:tblGrid>
              <a:tr h="5543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AUPR↑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AUC↑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RMSE↓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MAE↓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MLP baseline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0.5889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0.8833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18.9204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12.0727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KAN head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0.5064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0.8561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19.4118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12.5460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0.5556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0.8717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19.1304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12.2923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HgKAN-HG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0.5782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0.8805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21.8455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14.2129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HgKAN-Agg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0.5611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0.8713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19.2011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12.2187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DrugKAN+HG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0.5345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0.8669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20.5617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13.1371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DrugKAN+Agg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0.4213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0.8177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20.1643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13.0252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325880"/>
            <a:ext cx="3749040" cy="443484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35240" y="1325880"/>
            <a:ext cx="82296" cy="4434840"/>
          </a:xfrm>
          <a:prstGeom prst="rect">
            <a:avLst/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627632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关键观察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55280" y="2240280"/>
            <a:ext cx="29260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random主要反映已见药物空间内插值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 head分类AUPR下降：0.5889 → 0.5064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DrugKAN / HgKAN接近但未超过baseline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说明KAN不能无结构地替代最终MLP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实验二：Cold-drug 新药泛化主结果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结论：HgKAN-Agg在分类与回归主指标上方向一致优于MLP baseline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18520" y="109728"/>
            <a:ext cx="731520" cy="731520"/>
          </a:xfrm>
          <a:prstGeom prst="arc">
            <a:avLst/>
          </a:prstGeom>
          <a:noFill/>
          <a:ln w="101600">
            <a:solidFill>
              <a:srgbClr val="DDF4F1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166360" cy="28803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25880"/>
            <a:ext cx="82296" cy="288036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4709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分类AUPR（越高越好）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88920" y="2039112"/>
            <a:ext cx="2331720" cy="310896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039112"/>
            <a:ext cx="2153534" cy="310896"/>
          </a:xfrm>
          <a:prstGeom prst="rect">
            <a:avLst/>
          </a:prstGeom>
          <a:solidFill>
            <a:srgbClr val="0E2B3F"/>
          </a:solidFill>
          <a:ln w="12700">
            <a:solidFill>
              <a:srgbClr val="0E2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2029968"/>
            <a:ext cx="731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E2B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0.2758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 head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88920" y="2514600"/>
            <a:ext cx="2331720" cy="310896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514600"/>
            <a:ext cx="1340688" cy="310896"/>
          </a:xfrm>
          <a:prstGeom prst="rect">
            <a:avLst/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2505456"/>
            <a:ext cx="731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0.1717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DrugKAN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788920" y="2990088"/>
            <a:ext cx="2331720" cy="310896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2990088"/>
            <a:ext cx="1535896" cy="310896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2980944"/>
            <a:ext cx="731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0.1967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60120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HgKAN-Agg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788920" y="3465576"/>
            <a:ext cx="2331720" cy="310896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3465576"/>
            <a:ext cx="2159000" cy="310896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3456432"/>
            <a:ext cx="731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0.2765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5800" y="4498848"/>
            <a:ext cx="233172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498848"/>
            <a:ext cx="82296" cy="123444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709160"/>
            <a:ext cx="731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832" y="5102352"/>
            <a:ext cx="1691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0.7333 → 0.7452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3337560" y="4498848"/>
            <a:ext cx="2514600" cy="123444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4498848"/>
            <a:ext cx="82296" cy="1234440"/>
          </a:xfrm>
          <a:prstGeom prst="rect">
            <a:avLst/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4709160"/>
            <a:ext cx="914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593592" y="5102352"/>
            <a:ext cx="1920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18.3997 → 17.6763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325880"/>
          <a:ext cx="5257800" cy="3474720"/>
        </p:xfrm>
        <a:graphic>
          <a:graphicData uri="http://schemas.openxmlformats.org/drawingml/2006/table">
            <a:tbl>
              <a:tblPr/>
              <a:tblGrid>
                <a:gridCol w="1600200"/>
                <a:gridCol w="914400"/>
                <a:gridCol w="914400"/>
                <a:gridCol w="960120"/>
                <a:gridCol w="868680"/>
              </a:tblGrid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AUPR↑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AUC↑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RMSE↓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MAE↓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MLP baseline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0.2758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0.7333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18.3997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13.6750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KAN head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0.1717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0.5590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19.2865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14.1486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0.1967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0.6485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17.8930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13.1844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HgKAN-HG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0.1557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0.5413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19.2780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13.8723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HgKAN-Agg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0.2765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0.7452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17.6763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12.8615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DrugKAN+Agg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0.2429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0.7205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18.7366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13.4615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6355080" y="5166360"/>
            <a:ext cx="4983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核心结论：不是KAN越多越好，而是药物对聚合图给KAN提供了更合适的结构载体。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实验三：二分类两随机种子稳定性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结论：cold-drug绝对指标随药物划分波动，但聚合图方向更稳定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18520" y="109728"/>
            <a:ext cx="731520" cy="731520"/>
          </a:xfrm>
          <a:prstGeom prst="arc">
            <a:avLst/>
          </a:prstGeom>
          <a:noFill/>
          <a:ln w="101600">
            <a:solidFill>
              <a:srgbClr val="DDF4F1">
                <a:alpha val="75000"/>
              </a:srgbClr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61188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2148840"/>
                <a:gridCol w="2148840"/>
                <a:gridCol w="2743200"/>
              </a:tblGrid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MLP baseline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0.5889 / 0.8833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0.5799 / 0.8805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插值稳定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0.5556 / 0.8717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0.5614 / 0.8743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接近baseline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MLP baseline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cold-drug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0.2758 / 0.7333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0.0839 / 0.4646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seed43更难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cold-drug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0.1967 / 0.6485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0.1095 / 0.5175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分类不稳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DrugKAN+KAN-HG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cold-drug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0.1685 / 0.5633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0.0956 / 0.5046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三元超图弱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DrugKAN+KAN-Agg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cold-drug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0.2429 / 0.7205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0.1663 / 0.7014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2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优于KAN-HG</a:t>
                      </a:r>
                      <a:endParaRPr lang="en-US" sz="132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349240"/>
            <a:ext cx="10744200" cy="685800"/>
          </a:xfrm>
          <a:prstGeom prst="rect">
            <a:avLst/>
          </a:prstGeom>
          <a:solidFill>
            <a:srgbClr val="EEF7F7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5349240"/>
            <a:ext cx="82296" cy="68580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5541264"/>
            <a:ext cx="10149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解读：当前实验足以支持“药物对聚合图方向更有潜力”，但不足以声称cold-drug分类已统计显著领先。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实验四：KAN基函数与参数量分析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结论：Fourier更适合作为当前隐藏消息函数；KAN没有带来参数量优势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18520" y="109728"/>
            <a:ext cx="731520" cy="731520"/>
          </a:xfrm>
          <a:prstGeom prst="arc">
            <a:avLst/>
          </a:prstGeom>
          <a:noFill/>
          <a:ln w="101600">
            <a:solidFill>
              <a:srgbClr val="DDF4F1">
                <a:alpha val="75000"/>
              </a:srgbClr>
            </a:solidFill>
            <a:prstDash val="solid"/>
          </a:ln>
        </p:spPr>
      </p:sp>
      <p:pic>
        <p:nvPicPr>
          <p:cNvPr id="5" name="Image 0" descr="/home/bioinfo202200130116/bioinfo/codebasev5/docs/thesis/figures/fourier_bspline_rmse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325880"/>
            <a:ext cx="5074920" cy="29718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17720"/>
          <a:ext cx="4754880" cy="1234440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1234440"/>
                <a:gridCol w="1051560"/>
              </a:tblGrid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基函数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Random RMSE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Cold RMSE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Fourier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19.1304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17.8930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DrugKAN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B-spline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18.9037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19.0523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HgKAN-Agg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Fourier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19.2011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17.6763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5212080" cy="3063240"/>
        </p:xfrm>
        <a:graphic>
          <a:graphicData uri="http://schemas.openxmlformats.org/drawingml/2006/table">
            <a:tbl>
              <a:tblPr/>
              <a:tblGrid>
                <a:gridCol w="2240280"/>
                <a:gridCol w="1417320"/>
                <a:gridCol w="1417320"/>
              </a:tblGrid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总参数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KAN参数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B3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GCN_mlp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42.64M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KAGCN_mlp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43.46M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0.90M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GCN_kan_mlp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43.95M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1.44M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GCN_kan_hypergraph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45.77M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3.07M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GCN_kan_aggregated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44.28M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1.64M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76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KAGCN_kan_aggregated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45.10M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2.55M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mid">
                    <a:lnL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6263640" y="4754880"/>
            <a:ext cx="493776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6263640" y="4754880"/>
            <a:ext cx="82296" cy="105156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510528" y="4956048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当前KAN输入是隐藏通道，不是真实剂量变量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所有模型总参数量约四千万级，KAN并未显著减参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实验五：可解释性与案例分析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Lenalidomide + mitomycin C @ IGROV1；cold-drug正样本，两药均未出现在训练集中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018520" y="109728"/>
            <a:ext cx="731520" cy="731520"/>
          </a:xfrm>
          <a:prstGeom prst="arc">
            <a:avLst/>
          </a:prstGeom>
          <a:noFill/>
          <a:ln w="101600">
            <a:solidFill>
              <a:srgbClr val="DDF4F1">
                <a:alpha val="75000"/>
              </a:srgbClr>
            </a:solidFill>
            <a:prstDash val="solid"/>
          </a:ln>
        </p:spPr>
      </p:sp>
      <p:pic>
        <p:nvPicPr>
          <p:cNvPr id="5" name="Image 0" descr="/home/bioinfo202200130116/bioinfo/codebasev5/docs/thesis/figures/case_57954_modality_perturb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325880"/>
            <a:ext cx="3474720" cy="2011680"/>
          </a:xfrm>
          <a:prstGeom prst="rect">
            <a:avLst/>
          </a:prstGeom>
        </p:spPr>
      </p:pic>
      <p:pic>
        <p:nvPicPr>
          <p:cNvPr id="6" name="Image 1" descr="/home/bioinfo202200130116/bioinfo/codebasev5/docs/thesis/figures/case_57954_drug_pair_response_cur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325880"/>
            <a:ext cx="3474720" cy="2011680"/>
          </a:xfrm>
          <a:prstGeom prst="rect">
            <a:avLst/>
          </a:prstGeom>
        </p:spPr>
      </p:pic>
      <p:pic>
        <p:nvPicPr>
          <p:cNvPr id="7" name="Image 2" descr="/home/bioinfo202200130116/bioinfo/codebasev5/docs/thesis/figures/case_57954_kan_edge_function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0" y="1325880"/>
            <a:ext cx="3063240" cy="20116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85800" y="3657600"/>
            <a:ext cx="3337560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685800" y="3657600"/>
            <a:ext cx="82296" cy="1463040"/>
          </a:xfrm>
          <a:prstGeom prst="rect">
            <a:avLst/>
          </a:prstGeom>
          <a:solidFill>
            <a:srgbClr val="0B8F8A"/>
          </a:solidFill>
          <a:ln w="12700">
            <a:solidFill>
              <a:srgbClr val="0B8F8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6012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8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扰动实验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60120" y="4407408"/>
            <a:ext cx="2651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原始0.9106；屏蔽两药降至0.3711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434840" y="3657600"/>
            <a:ext cx="3337560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434840" y="3657600"/>
            <a:ext cx="82296" cy="14630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0916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响应曲线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709160" y="4407408"/>
            <a:ext cx="2651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药物对表示恢复15%时越过0.5阈值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83880" y="3657600"/>
            <a:ext cx="3063240" cy="1463040"/>
          </a:xfrm>
          <a:prstGeom prst="rect">
            <a:avLst/>
          </a:prstGeom>
          <a:solidFill>
            <a:srgbClr val="FFFFFF"/>
          </a:solidFill>
          <a:ln w="8890">
            <a:solidFill>
              <a:srgbClr val="D9E3EA"/>
            </a:solidFill>
            <a:prstDash val="solid"/>
          </a:ln>
          <a:effectLst>
            <a:outerShdw sx="100000" sy="100000" kx="0" ky="0" algn="bl" rotWithShape="0" blurRad="25400" dist="12700" dir="2700000">
              <a:srgbClr val="07182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183880" y="3657600"/>
            <a:ext cx="82296" cy="1463040"/>
          </a:xfrm>
          <a:prstGeom prst="rect">
            <a:avLst/>
          </a:prstGeom>
          <a:solidFill>
            <a:srgbClr val="D95763"/>
          </a:solidFill>
          <a:ln w="12700">
            <a:solidFill>
              <a:srgbClr val="D9576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5820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KAN函数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58200" y="4407408"/>
            <a:ext cx="2240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7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提供隐藏消息函数级观察窗口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234440" y="5897880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解释边界：这些是模型内部依赖性证据，不能直接等同于真实药理机制。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85800"/>
            <a:ext cx="8961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结论：结构先行，KAN局部函数化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9808" y="1261872"/>
            <a:ext cx="9326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D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本文最终结论不是“KAN全面优于MLP”，而是明确KAN在药物协同预测中的适用边界。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3246120" cy="2194560"/>
          </a:xfrm>
          <a:prstGeom prst="rect">
            <a:avLst/>
          </a:prstGeom>
          <a:solidFill>
            <a:srgbClr val="173D4C"/>
          </a:solidFill>
          <a:ln w="8890">
            <a:solidFill>
              <a:srgbClr val="173D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DF4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主要结论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78992" y="2907792"/>
            <a:ext cx="2377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KAN head直接替换失败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DrugKAN收益任务依赖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HgKAN-Agg是最明确正结果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057400"/>
            <a:ext cx="3246120" cy="2194560"/>
          </a:xfrm>
          <a:prstGeom prst="rect">
            <a:avLst/>
          </a:prstGeom>
          <a:solidFill>
            <a:srgbClr val="173D4C"/>
          </a:solidFill>
          <a:ln w="8890">
            <a:solidFill>
              <a:srgbClr val="173D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实验支撑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782312" y="2907792"/>
            <a:ext cx="2377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random与cold-drug主表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两seed稳定性分析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基函数、参数量、解释性实验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83880" y="2057400"/>
            <a:ext cx="3246120" cy="2194560"/>
          </a:xfrm>
          <a:prstGeom prst="rect">
            <a:avLst/>
          </a:prstGeom>
          <a:solidFill>
            <a:srgbClr val="173D4C"/>
          </a:solidFill>
          <a:ln w="8890">
            <a:solidFill>
              <a:srgbClr val="173D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359152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57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后续工作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485632" y="2907792"/>
            <a:ext cx="2377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更多seed与外部验证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引入剂量变量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增强多组学与解释验证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4760" y="5806440"/>
            <a:ext cx="4754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谢谢各位老师，欢迎批评指正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265408" y="6419088"/>
            <a:ext cx="38404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基于KAN超图的药物协同预测研究</dc:title>
  <dc:subject>本科毕业论文答辩实验完整版</dc:subject>
  <dc:creator>Codex</dc:creator>
  <cp:lastModifiedBy>Codex</cp:lastModifiedBy>
  <cp:revision>1</cp:revision>
  <dcterms:created xsi:type="dcterms:W3CDTF">2026-05-29T13:38:17Z</dcterms:created>
  <dcterms:modified xsi:type="dcterms:W3CDTF">2026-05-29T13:38:17Z</dcterms:modified>
</cp:coreProperties>
</file>